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B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B2B2E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B2B2E"/>
                </a:solidFill>
                <a:latin typeface="Arial" panose="020B0604020202020204"/>
              </a:rPr>
              <a:t>PSNR vs Training Shots</a:t>
            </a:r>
            <a:endParaRPr sz="1200" b="0" i="0" u="none" strike="noStrike">
              <a:solidFill>
                <a:srgbClr val="0B2B2E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ln w="31750" cap="flat" cmpd="sng" algn="ctr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 cmpd="sng" algn="ctr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B2B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40</c:v>
                </c:pt>
                <c:pt idx="4">
                  <c:v>100</c:v>
                </c:pt>
                <c:pt idx="5">
                  <c:v>200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15.82</c:v>
                </c:pt>
                <c:pt idx="1">
                  <c:v>26.64</c:v>
                </c:pt>
                <c:pt idx="2">
                  <c:v>28.35</c:v>
                </c:pt>
                <c:pt idx="3">
                  <c:v>30.53</c:v>
                </c:pt>
                <c:pt idx="4">
                  <c:v>30.81</c:v>
                </c:pt>
                <c:pt idx="5">
                  <c:v>30.08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Training Shots</a:t>
                </a:r>
                <a:endParaRPr sz="10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A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D7E4E4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PSNR (dB)</a:t>
                </a:r>
                <a:endParaRPr sz="10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A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44b19ae-d82e-493a-b6c1-33a9af41451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B2B2E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B2B2E"/>
                </a:solidFill>
                <a:latin typeface="Arial" panose="020B0604020202020204"/>
              </a:rPr>
              <a:t>SSIM vs Training Shots</a:t>
            </a:r>
            <a:endParaRPr sz="1200" b="0" i="0" u="none" strike="noStrike">
              <a:solidFill>
                <a:srgbClr val="0B2B2E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SSIM</c:v>
                </c:pt>
              </c:strCache>
            </c:strRef>
          </c:tx>
          <c:spPr>
            <a:ln w="31750" cap="flat" cmpd="sng" algn="ctr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 cmpd="sng" algn="ctr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B2B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40</c:v>
                </c:pt>
                <c:pt idx="4">
                  <c:v>100</c:v>
                </c:pt>
                <c:pt idx="5">
                  <c:v>200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0.7908</c:v>
                </c:pt>
                <c:pt idx="1">
                  <c:v>0.7945</c:v>
                </c:pt>
                <c:pt idx="2">
                  <c:v>0.8252</c:v>
                </c:pt>
                <c:pt idx="3">
                  <c:v>0.8391</c:v>
                </c:pt>
                <c:pt idx="4">
                  <c:v>0.8353</c:v>
                </c:pt>
                <c:pt idx="5">
                  <c:v>0.7637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Training Shots</a:t>
                </a:r>
                <a:endParaRPr sz="10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A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12700" cap="flat" cmpd="sng" algn="ctr">
              <a:solidFill>
                <a:srgbClr val="D7E4E4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SSIM</a:t>
                </a:r>
                <a:endParaRPr sz="10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A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de60806-b7f0-4577-ac51-93cb93264a5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tags" Target="../tags/tag1.xml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6.png"/><Relationship Id="rId1" Type="http://schemas.openxmlformats.org/officeDocument/2006/relationships/hyperlink" Target="https://trustworthy-fewshot-gan-pcb-xray-m7hdbxrlzkbewkjmpd5gk8.streamlit.app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94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XrayTrust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1536192"/>
            <a:ext cx="6675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i="1" dirty="0">
                <a:solidFill>
                  <a:srgbClr val="BFE9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Few-Shot, Physics-Constrained GAN for Trustworthy PCB X-ray</a:t>
            </a:r>
            <a:r>
              <a:rPr lang="en-GB" altLang="en-US" sz="1650" i="1" dirty="0">
                <a:solidFill>
                  <a:srgbClr val="BFE9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Image</a:t>
            </a:r>
            <a:r>
              <a:rPr lang="en-US" sz="1650" i="1" dirty="0">
                <a:solidFill>
                  <a:srgbClr val="BFE9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Reconstruction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data-efficient, ground-truth-independent reconstruction and quality-monitoring framework for AI-assisted PCB inspection.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41960" y="35356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0B4A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2440" y="3520440"/>
            <a:ext cx="13898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PCB X-ray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08048" y="3803904"/>
            <a:ext cx="38404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2289048" y="3739896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9" name="Shape 7"/>
          <p:cNvSpPr/>
          <p:nvPr/>
        </p:nvSpPr>
        <p:spPr>
          <a:xfrm>
            <a:off x="2429256" y="352044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0B4A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0460" y="3520440"/>
            <a:ext cx="1554480" cy="567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 Reconstruction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3803904"/>
            <a:ext cx="38404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352544" y="3739896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3" name="Shape 11"/>
          <p:cNvSpPr/>
          <p:nvPr/>
        </p:nvSpPr>
        <p:spPr>
          <a:xfrm>
            <a:off x="4490720" y="3520440"/>
            <a:ext cx="1224280" cy="567055"/>
          </a:xfrm>
          <a:prstGeom prst="roundRect">
            <a:avLst>
              <a:gd name="adj" fmla="val 12903"/>
            </a:avLst>
          </a:prstGeom>
          <a:solidFill>
            <a:srgbClr val="0B4A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0080" y="3520440"/>
            <a:ext cx="1270000" cy="567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Consistency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3803904"/>
            <a:ext cx="38404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6217920" y="3739896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7" name="Shape 15"/>
          <p:cNvSpPr/>
          <p:nvPr/>
        </p:nvSpPr>
        <p:spPr>
          <a:xfrm>
            <a:off x="6129528" y="352044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520440"/>
            <a:ext cx="13898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Signal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6492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</a:t>
            </a:r>
            <a:r>
              <a:rPr lang="en-GB" altLang="en-US" sz="115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Data-scarce Industrial X-ray imaging and future AI-assisted inspection</a:t>
            </a:r>
            <a:r>
              <a:rPr lang="en-US" sz="115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3291840" cy="0"/>
          </a:xfrm>
          <a:prstGeom prst="line">
            <a:avLst/>
          </a:prstGeom>
          <a:noFill/>
          <a:ln w="12700">
            <a:solidFill>
              <a:srgbClr val="1B5D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66360"/>
            <a:ext cx="5029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Imon Hossain
</a:t>
            </a:r>
            <a:r>
              <a:rPr lang="en-US" sz="1150" dirty="0">
                <a:solidFill>
                  <a:srgbClr val="BFE9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Final-Year B.Sc. Student, Dept. of CSE
</a:t>
            </a:r>
            <a:r>
              <a:rPr lang="en-US" sz="1150" dirty="0">
                <a:solidFill>
                  <a:srgbClr val="BFE9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Dhaka University of Engineering &amp; Technology (DUET)
</a:t>
            </a:r>
            <a:r>
              <a:rPr lang="en-US" sz="115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Innovation Fair Bangladesh 2026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18120" y="685800"/>
            <a:ext cx="3749040" cy="5577840"/>
          </a:xfrm>
          <a:prstGeom prst="roundRect">
            <a:avLst>
              <a:gd name="adj" fmla="val 1951"/>
            </a:avLst>
          </a:prstGeom>
          <a:solidFill>
            <a:srgbClr val="F6FAFA"/>
          </a:solidFill>
          <a:ln w="15875">
            <a:solidFill>
              <a:srgbClr val="9AA5A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955280" y="822960"/>
            <a:ext cx="3474720" cy="5303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 — Innovation Fair Bangladesh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pic>
        <p:nvPicPr>
          <p:cNvPr id="26" name="Picture 25" descr="Gemini_Generated_Image_89c74a89c74a89c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8275" y="685800"/>
            <a:ext cx="4230370" cy="5578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Problem: Reliable AI Inspection Under Data Scarcity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1183112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4434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Limited industrial X-ray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1709928"/>
            <a:ext cx="4434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labelled datasets are expensive and difficult to obtain for most manufacturers.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9" name="Text 7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496312"/>
            <a:ext cx="4434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GAN hallucination risk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788920"/>
            <a:ext cx="4434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structures may introduce misleading, non-physical details into the image.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639312"/>
            <a:ext cx="457200" cy="4572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3" name="Text 11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3575304"/>
            <a:ext cx="4434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ground truth at deployment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67912"/>
            <a:ext cx="4434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altLang="en-US" sz="1100" dirty="0">
                <a:solidFill>
                  <a:schemeClr val="bg1">
                    <a:lumMod val="50000"/>
                  </a:schemeClr>
                </a:solidFill>
              </a:rPr>
              <a:t>A true HR reference may not be available for every PCB during deployment.</a:t>
            </a:r>
            <a:endParaRPr lang="en-US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718304"/>
            <a:ext cx="457200" cy="4572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640080" y="471830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4654296"/>
            <a:ext cx="4434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Human inspection remains essential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946904"/>
            <a:ext cx="4434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should assist inspectors, not make unsafe autonomous accept/reject decisions.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1325880"/>
            <a:ext cx="4663440" cy="5074920"/>
          </a:xfrm>
          <a:prstGeom prst="roundRect">
            <a:avLst>
              <a:gd name="adj" fmla="val 1961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50876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Bangladesh Opportunity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98080" y="2057400"/>
            <a:ext cx="3749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2132965"/>
            <a:ext cx="3566160" cy="527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Bangladesh Electronics /</a:t>
            </a:r>
            <a:endParaRPr lang="en-US" sz="11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PCB Manufacturing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72600" y="2660904"/>
            <a:ext cx="0" cy="21945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9308592" y="286207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26" name="Shape 24"/>
          <p:cNvSpPr/>
          <p:nvPr/>
        </p:nvSpPr>
        <p:spPr>
          <a:xfrm>
            <a:off x="7498080" y="2994660"/>
            <a:ext cx="3749040" cy="4889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880360"/>
            <a:ext cx="35661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altLang="en-US" sz="1100" dirty="0"/>
              <a:t>Emerging Electronics &amp; PCB Manufacturing</a:t>
            </a:r>
            <a:endParaRPr lang="en-US" alt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72600" y="3483864"/>
            <a:ext cx="0" cy="21945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9308592" y="368503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30" name="Shape 28"/>
          <p:cNvSpPr/>
          <p:nvPr/>
        </p:nvSpPr>
        <p:spPr>
          <a:xfrm>
            <a:off x="7498080" y="3817620"/>
            <a:ext cx="3749040" cy="4889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3703320"/>
            <a:ext cx="35661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Annotation Gap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72600" y="4306824"/>
            <a:ext cx="0" cy="21945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>
            <a:off x="9308592" y="450799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34" name="Shape 32"/>
          <p:cNvSpPr/>
          <p:nvPr/>
        </p:nvSpPr>
        <p:spPr>
          <a:xfrm>
            <a:off x="7498080" y="4617720"/>
            <a:ext cx="3748405" cy="49911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526280"/>
            <a:ext cx="35661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Data-Efficient AI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372600" y="5129784"/>
            <a:ext cx="0" cy="21945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0800000">
            <a:off x="9308592" y="533095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38" name="Shape 36"/>
          <p:cNvSpPr/>
          <p:nvPr/>
        </p:nvSpPr>
        <p:spPr>
          <a:xfrm>
            <a:off x="7498080" y="5464175"/>
            <a:ext cx="3749040" cy="424815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5349240"/>
            <a:ext cx="35661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6217920"/>
            <a:ext cx="4114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Opportunity: build AI-assisted inspection infrastructure that works under limited data and needs no HR reference at deployment.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 — Innovation Fair Bangladesh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New in XrayTrust?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1183112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" y="1577340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708660" y="15773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063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Few-Shot Learning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063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useful reconstruction from very limited training data across the operating range: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9140" y="1577340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4549140" y="15773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063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Physics-Constrained Reconstruction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063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generator is penalized whenever its reconstruction is not physically consistent with the observed input.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9620" y="1577340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8389620" y="15773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8412480" y="2194560"/>
            <a:ext cx="3063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Ground-Truth-Independent Signal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3063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deployment, no HR reference is available. Physics error alone drives a live quality/consistency signal.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5760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9304" y="365760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9304" y="365760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47088" y="365760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47088" y="365760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04872" y="365760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4872" y="365760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62656" y="365760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62656" y="365760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365760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365760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520440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No HR Reference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12480" y="3776472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Physics Error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12480" y="4019550"/>
            <a:ext cx="3063240" cy="155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Consistency Score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480560"/>
            <a:ext cx="11183112" cy="1371600"/>
          </a:xfrm>
          <a:prstGeom prst="roundRect">
            <a:avLst>
              <a:gd name="adj" fmla="val 6667"/>
            </a:avLst>
          </a:prstGeom>
          <a:solidFill>
            <a:srgbClr val="012A2F"/>
          </a:solidFill>
        </p:spPr>
      </p:sp>
      <p:sp>
        <p:nvSpPr>
          <p:cNvPr id="35" name="Text 33"/>
          <p:cNvSpPr/>
          <p:nvPr/>
        </p:nvSpPr>
        <p:spPr>
          <a:xfrm>
            <a:off x="777240" y="46177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Generator Loss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919472"/>
            <a:ext cx="10634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</a:t>
            </a:r>
            <a:r>
              <a:rPr lang="en-US" sz="1700" i="1" baseline="-40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total </a:t>
            </a:r>
            <a:r>
              <a:rPr lang="en-US" sz="17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= L</a:t>
            </a:r>
            <a:r>
              <a:rPr lang="en-US" sz="1700" i="1" baseline="-40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 </a:t>
            </a:r>
            <a:r>
              <a:rPr lang="en-US" sz="17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+ λ</a:t>
            </a:r>
            <a:r>
              <a:rPr lang="en-US" sz="1700" baseline="-40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</a:t>
            </a:r>
            <a:r>
              <a:rPr lang="en-US" sz="17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· L</a:t>
            </a:r>
            <a:r>
              <a:rPr lang="en-US" sz="1700" i="1" baseline="-40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L1 </a:t>
            </a:r>
            <a:r>
              <a:rPr lang="en-US" sz="17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+ λ</a:t>
            </a:r>
            <a:r>
              <a:rPr lang="en-US" sz="1700" baseline="-40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</a:t>
            </a:r>
            <a:r>
              <a:rPr lang="en-US" sz="17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· L</a:t>
            </a:r>
            <a:r>
              <a:rPr lang="en-US" sz="1700" i="1" baseline="-40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77240" y="5349240"/>
            <a:ext cx="106344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</a:t>
            </a:r>
            <a:r>
              <a:rPr lang="en-US" sz="1550" i="1" baseline="-40000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physics</a:t>
            </a:r>
            <a:r>
              <a:rPr lang="en-US" sz="1550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= || D(G(LR)) − LR ||</a:t>
            </a:r>
            <a:r>
              <a:rPr lang="en-US" sz="1550" baseline="-40000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r>
              <a:rPr lang="en-US" sz="1100" i="1" dirty="0">
                <a:solidFill>
                  <a:srgbClr val="9FC9C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     — the reconstruction must down-sample back to the observed LR input.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 — Innovation Fair Bangladesh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XrayTrust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1183112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1477645"/>
            <a:ext cx="1828800" cy="391160"/>
          </a:xfrm>
          <a:prstGeom prst="roundRect">
            <a:avLst>
              <a:gd name="adj" fmla="val 12500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481455"/>
            <a:ext cx="182880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altLang="en-US" sz="1000" dirty="0"/>
              <a:t>Input LR X-ray</a:t>
            </a:r>
            <a:endParaRPr lang="en-GB" alt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869440"/>
            <a:ext cx="0" cy="18288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587752" y="204673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9" name="Shape 7"/>
          <p:cNvSpPr/>
          <p:nvPr/>
        </p:nvSpPr>
        <p:spPr>
          <a:xfrm>
            <a:off x="1737360" y="2141220"/>
            <a:ext cx="1828800" cy="379730"/>
          </a:xfrm>
          <a:prstGeom prst="roundRect">
            <a:avLst>
              <a:gd name="adj" fmla="val 12500"/>
            </a:avLst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1737360" y="2213610"/>
            <a:ext cx="1828800" cy="3073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 (U-Net)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2529332"/>
            <a:ext cx="0" cy="18288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2587752" y="2706624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3" name="Shape 11"/>
          <p:cNvSpPr/>
          <p:nvPr/>
        </p:nvSpPr>
        <p:spPr>
          <a:xfrm>
            <a:off x="1737360" y="2828290"/>
            <a:ext cx="1828800" cy="297180"/>
          </a:xfrm>
          <a:prstGeom prst="roundRect">
            <a:avLst>
              <a:gd name="adj" fmla="val 12500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851150"/>
            <a:ext cx="1828800" cy="264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altLang="en-US" sz="1050" dirty="0"/>
              <a:t>Reconstructed X-ray</a:t>
            </a:r>
            <a:endParaRPr lang="en-GB" alt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2660" y="3203829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898652" y="3359404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7" name="Shape 15"/>
          <p:cNvSpPr/>
          <p:nvPr/>
        </p:nvSpPr>
        <p:spPr>
          <a:xfrm>
            <a:off x="4683760" y="3201924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4619752" y="3334004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9" name="Shape 17"/>
          <p:cNvSpPr/>
          <p:nvPr/>
        </p:nvSpPr>
        <p:spPr>
          <a:xfrm>
            <a:off x="965200" y="3212592"/>
            <a:ext cx="3703320" cy="0"/>
          </a:xfrm>
          <a:prstGeom prst="line">
            <a:avLst/>
          </a:prstGeom>
          <a:noFill/>
          <a:ln w="15875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900" y="3465957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0A896"/>
          </a:solidFill>
        </p:spPr>
      </p:sp>
      <p:sp>
        <p:nvSpPr>
          <p:cNvPr id="21" name="Text 19"/>
          <p:cNvSpPr/>
          <p:nvPr/>
        </p:nvSpPr>
        <p:spPr>
          <a:xfrm>
            <a:off x="215900" y="3456432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Discriminator (CNN)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28745" y="3441700"/>
            <a:ext cx="2011680" cy="605790"/>
          </a:xfrm>
          <a:prstGeom prst="roundRect">
            <a:avLst>
              <a:gd name="adj" fmla="val 12500"/>
            </a:avLst>
          </a:prstGeom>
          <a:solidFill>
            <a:srgbClr val="02C39A"/>
          </a:solidFill>
        </p:spPr>
        <p:txBody>
          <a:bodyPr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33520" y="3433445"/>
            <a:ext cx="2011680" cy="5899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Module</a:t>
            </a:r>
            <a:endParaRPr lang="en-US" sz="950" b="1" dirty="0">
              <a:solidFill>
                <a:srgbClr val="012A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(Downsample &amp; Compare</a:t>
            </a:r>
            <a:r>
              <a:rPr lang="en-GB" altLang="en-US" sz="95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with LR</a:t>
            </a:r>
            <a:r>
              <a:rPr lang="en-US" sz="95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3600" y="3895344"/>
            <a:ext cx="0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799592" y="4023360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26" name="Shape 24"/>
          <p:cNvSpPr/>
          <p:nvPr/>
        </p:nvSpPr>
        <p:spPr>
          <a:xfrm>
            <a:off x="5303520" y="4025519"/>
            <a:ext cx="0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5239512" y="4144010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28" name="Text 26"/>
          <p:cNvSpPr/>
          <p:nvPr/>
        </p:nvSpPr>
        <p:spPr>
          <a:xfrm>
            <a:off x="-220980" y="4117975"/>
            <a:ext cx="2194560" cy="298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Adversarial Loss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82440" y="4236720"/>
            <a:ext cx="2219325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Loss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384300" y="4236593"/>
            <a:ext cx="3703320" cy="0"/>
          </a:xfrm>
          <a:prstGeom prst="line">
            <a:avLst/>
          </a:prstGeom>
          <a:noFill/>
          <a:ln w="15875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2160" y="4239768"/>
            <a:ext cx="0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0800000">
            <a:off x="3248152" y="4380484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33" name="Shape 31"/>
          <p:cNvSpPr/>
          <p:nvPr/>
        </p:nvSpPr>
        <p:spPr>
          <a:xfrm>
            <a:off x="2217420" y="4494530"/>
            <a:ext cx="2468880" cy="336550"/>
          </a:xfrm>
          <a:prstGeom prst="roundRect">
            <a:avLst>
              <a:gd name="adj" fmla="val 13636"/>
            </a:avLst>
          </a:prstGeom>
          <a:solidFill>
            <a:srgbClr val="012A2F"/>
          </a:solidFill>
        </p:spPr>
      </p:sp>
      <p:sp>
        <p:nvSpPr>
          <p:cNvPr id="34" name="Text 32"/>
          <p:cNvSpPr/>
          <p:nvPr/>
        </p:nvSpPr>
        <p:spPr>
          <a:xfrm>
            <a:off x="2228215" y="4507865"/>
            <a:ext cx="2572385" cy="3155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Loss  →  Update Generator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047488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0E1F21"/>
          </a:solidFill>
        </p:spPr>
      </p:sp>
      <p:sp>
        <p:nvSpPr>
          <p:cNvPr id="36" name="Text 34"/>
          <p:cNvSpPr/>
          <p:nvPr/>
        </p:nvSpPr>
        <p:spPr>
          <a:xfrm>
            <a:off x="731520" y="5138928"/>
            <a:ext cx="6217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altLang="en-US" sz="1200" dirty="0">
                <a:solidFill>
                  <a:srgbClr val="92D050"/>
                </a:solidFill>
              </a:rPr>
              <a:t>reconstructed_input = Downsample(reconstruction)</a:t>
            </a:r>
            <a:endParaRPr lang="en-US" altLang="en-US" sz="1200" dirty="0">
              <a:solidFill>
                <a:srgbClr val="92D050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altLang="en-US" sz="1200" dirty="0">
                <a:solidFill>
                  <a:srgbClr val="92D050"/>
                </a:solidFill>
              </a:rPr>
              <a:t>physics_error = L1(reconstructed_input, input_lr)</a:t>
            </a:r>
            <a:endParaRPr lang="en-US" altLang="en-US" sz="1200" dirty="0">
              <a:solidFill>
                <a:srgbClr val="92D050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315200" y="1234440"/>
            <a:ext cx="0" cy="530352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1234440"/>
            <a:ext cx="4069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635240" y="1737360"/>
            <a:ext cx="4069080" cy="545465"/>
          </a:xfrm>
          <a:prstGeom prst="roundRect">
            <a:avLst>
              <a:gd name="adj" fmla="val 9677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1737360"/>
            <a:ext cx="4069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X-ray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669780" y="2304288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0800000">
            <a:off x="9605772" y="2487168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43" name="Shape 41"/>
          <p:cNvSpPr/>
          <p:nvPr/>
        </p:nvSpPr>
        <p:spPr>
          <a:xfrm>
            <a:off x="7635240" y="2607056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2614295"/>
            <a:ext cx="4069080" cy="557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669780" y="3173984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9605772" y="3356864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47" name="Shape 45"/>
          <p:cNvSpPr/>
          <p:nvPr/>
        </p:nvSpPr>
        <p:spPr>
          <a:xfrm>
            <a:off x="7635240" y="3462020"/>
            <a:ext cx="4069080" cy="480060"/>
          </a:xfrm>
          <a:prstGeom prst="roundRect">
            <a:avLst>
              <a:gd name="adj" fmla="val 9677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35240" y="3487420"/>
            <a:ext cx="4069080" cy="4546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Reconstruc</a:t>
            </a:r>
            <a:r>
              <a:rPr lang="en-GB" altLang="en-US" sz="11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ted X-ray</a:t>
            </a:r>
            <a:endParaRPr lang="en-GB" altLang="en-US" sz="1150" dirty="0">
              <a:solidFill>
                <a:srgbClr val="0B2B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669780" y="3967480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9605772" y="4124960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51" name="Shape 49"/>
          <p:cNvSpPr/>
          <p:nvPr/>
        </p:nvSpPr>
        <p:spPr>
          <a:xfrm>
            <a:off x="7635240" y="4236720"/>
            <a:ext cx="4069080" cy="586740"/>
          </a:xfrm>
          <a:prstGeom prst="roundRect">
            <a:avLst>
              <a:gd name="adj" fmla="val 9677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4236720"/>
            <a:ext cx="4069080" cy="5480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Consistency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669780" y="4786376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9605772" y="4981956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55" name="Shape 53"/>
          <p:cNvSpPr/>
          <p:nvPr/>
        </p:nvSpPr>
        <p:spPr>
          <a:xfrm>
            <a:off x="7635240" y="5101844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35240" y="5090160"/>
            <a:ext cx="4069080" cy="5784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 Score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635240" y="5715000"/>
            <a:ext cx="4069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Generator: U-Net  ·  Discriminator: CNN  ·  Framework: PyTorch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Loss: Adversarial + L1 + Physics  ·  Input: PCB X-ray  ·  Few-shot training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 — Innovation Fair Bangladesh 2026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308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Experimental Validation: </a:t>
            </a:r>
            <a:r>
              <a:rPr lang="en-US" altLang="en-US" sz="280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Efficiency &amp; Baseline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1183112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02920" y="1234440"/>
          <a:ext cx="5394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234440"/>
          <a:ext cx="5394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397764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7F6F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3977640"/>
            <a:ext cx="10607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4A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saturates and does not improve monotonically with more shots (note the 200-shot dip) — data efficiency, not raw data volume, drives reconstruction quality.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02920" y="47548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Physics Consistency by Shot Count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02920" y="5120640"/>
          <a:ext cx="5657215" cy="1264920"/>
        </p:xfrm>
        <a:graphic>
          <a:graphicData uri="http://schemas.openxmlformats.org/drawingml/2006/table">
            <a:tbl>
              <a:tblPr/>
              <a:tblGrid>
                <a:gridCol w="925195"/>
                <a:gridCol w="788670"/>
                <a:gridCol w="788670"/>
                <a:gridCol w="788670"/>
                <a:gridCol w="788670"/>
                <a:gridCol w="788670"/>
                <a:gridCol w="78867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Physics Error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0.1523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0.0194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0.0277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0.0171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0.0154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0.0155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Consistency (%)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87.3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94.9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B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6473825"/>
            <a:ext cx="3428365" cy="3092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 — Innovation Fair Bangladesh 2026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Text Box 11"/>
          <p:cNvSpPr txBox="1"/>
          <p:nvPr/>
        </p:nvSpPr>
        <p:spPr>
          <a:xfrm>
            <a:off x="6979285" y="5427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404040</a:t>
            </a:r>
            <a:endParaRPr lang="en-US"/>
          </a:p>
        </p:txBody>
      </p:sp>
      <p:graphicFrame>
        <p:nvGraphicFramePr>
          <p:cNvPr id="13" name="Table 12"/>
          <p:cNvGraphicFramePr/>
          <p:nvPr/>
        </p:nvGraphicFramePr>
        <p:xfrm>
          <a:off x="6858635" y="5120640"/>
          <a:ext cx="4964430" cy="1209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810"/>
                <a:gridCol w="1654810"/>
                <a:gridCol w="1654810"/>
              </a:tblGrid>
              <a:tr h="4032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800"/>
                        <a:t>Method</a:t>
                      </a:r>
                      <a:endParaRPr lang="en-GB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PSNR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 SSIM</a:t>
                      </a:r>
                      <a:endParaRPr lang="en-GB" altLang="en-US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Bicubic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33.70 dB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0.8278</a:t>
                      </a:r>
                      <a:endParaRPr lang="en-GB" altLang="en-US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GAN(40shot)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30.69 dB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0.8400</a:t>
                      </a: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6859270" y="4767580"/>
            <a:ext cx="470789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 Baseline Comparison</a:t>
            </a:r>
            <a:endParaRPr lang="en-GB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34" charset="0"/>
              <a:cs typeface="Cambria" panose="02040503050406030204" pitchFamily="3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6313170" y="6412230"/>
            <a:ext cx="56718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Few-shot GAN achieves higher structural fidelity (SSIM) than Bicubic.</a:t>
            </a:r>
            <a:endParaRPr lang="en-US" altLang="en-US" sz="1000"/>
          </a:p>
          <a:p>
            <a:r>
              <a:rPr lang="en-US" altLang="en-US" sz="1000"/>
              <a:t> Lower PSNR reflects a trade-off between pixel-level smoothing and realistic structure reconstruction</a:t>
            </a:r>
            <a:endParaRPr lang="en-US" alt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Consistent Is the Reconstruction</a:t>
            </a:r>
            <a:r>
              <a:rPr lang="en-US" sz="300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1183112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2588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6FAFA"/>
          </a:solidFill>
          <a:ln w="15875">
            <a:solidFill>
              <a:srgbClr val="9AA5A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05740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63240" y="132588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6FAFA"/>
          </a:solidFill>
          <a:ln w="15875">
            <a:solidFill>
              <a:srgbClr val="9AA5A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0" y="1463040"/>
            <a:ext cx="205740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23560" y="132588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6FAFA"/>
          </a:solidFill>
          <a:ln w="15875">
            <a:solidFill>
              <a:srgbClr val="9AA5A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760720" y="1463040"/>
            <a:ext cx="205740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1019810" cy="822960"/>
          </a:xfrm>
          <a:prstGeom prst="roundRect">
            <a:avLst>
              <a:gd name="adj" fmla="val 8889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04945"/>
            <a:ext cx="101282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28.54 dB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4450080"/>
            <a:ext cx="1019175" cy="2686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PSNR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21790" y="3931920"/>
            <a:ext cx="1007745" cy="810260"/>
          </a:xfrm>
          <a:prstGeom prst="roundRect">
            <a:avLst>
              <a:gd name="adj" fmla="val 8889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35760" y="4004945"/>
            <a:ext cx="9937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0.9820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8544" y="4443984"/>
            <a:ext cx="1197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28595" y="3931920"/>
            <a:ext cx="995045" cy="822960"/>
          </a:xfrm>
          <a:prstGeom prst="roundRect">
            <a:avLst>
              <a:gd name="adj" fmla="val 8889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7795" y="4004945"/>
            <a:ext cx="10388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0.0234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88768" y="4443984"/>
            <a:ext cx="1197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Error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34765" y="3931920"/>
            <a:ext cx="956945" cy="822960"/>
          </a:xfrm>
          <a:prstGeom prst="roundRect">
            <a:avLst>
              <a:gd name="adj" fmla="val 8889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3965" y="4004945"/>
            <a:ext cx="98234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0.0209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721227" y="4450334"/>
            <a:ext cx="1197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Error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54270" y="3931920"/>
            <a:ext cx="1022985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370" y="4004945"/>
            <a:ext cx="105791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12A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95.35%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03216" y="4443984"/>
            <a:ext cx="1197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36280" y="1325880"/>
            <a:ext cx="3368040" cy="2202180"/>
          </a:xfrm>
          <a:prstGeom prst="roundRect">
            <a:avLst>
              <a:gd name="adj" fmla="val 3922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9615" y="1554480"/>
            <a:ext cx="329819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Ground Truth
</a:t>
            </a:r>
            <a:r>
              <a:rPr lang="en-US" sz="10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 research validation (SSIM, PSNR, L1).
</a:t>
            </a:r>
            <a:r>
              <a:rPr lang="en-US" sz="12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Ground Truth
</a:t>
            </a:r>
            <a:r>
              <a:rPr lang="en-US" sz="10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consistency alone provides a deployment-time reconstruction quality signal.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88595" y="5567680"/>
            <a:ext cx="6113145" cy="777240"/>
          </a:xfrm>
          <a:prstGeom prst="roundRect">
            <a:avLst>
              <a:gd name="adj" fmla="val 9412"/>
            </a:avLst>
          </a:prstGeom>
          <a:solidFill>
            <a:srgbClr val="FBEFE6"/>
          </a:solidFill>
          <a:ln w="15875">
            <a:solidFill>
              <a:srgbClr val="C98A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325" y="5516880"/>
            <a:ext cx="5702935" cy="8032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8A4B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Consistency Score ≠ PCB Safety Score
</a:t>
            </a:r>
            <a:r>
              <a:rPr lang="en-US" sz="1050" dirty="0">
                <a:solidFill>
                  <a:srgbClr val="8A4B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measures reconstruction/physics consistency only — not defect absence, and not a PASS/FAIL decision.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 — Innovation Fair Bangladesh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31" name="Table 30"/>
          <p:cNvGraphicFramePr/>
          <p:nvPr/>
        </p:nvGraphicFramePr>
        <p:xfrm>
          <a:off x="6464300" y="3676650"/>
          <a:ext cx="5196840" cy="302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6840"/>
              </a:tblGrid>
              <a:tr h="30245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                        </a:t>
                      </a:r>
                      <a:r>
                        <a:rPr lang="en-GB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GAN  training loss history</a:t>
                      </a:r>
                      <a:endParaRPr lang="en-GB" altLang="en-US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2" name="Picture 31" descr="training_history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2540" y="3978275"/>
            <a:ext cx="5753100" cy="2720340"/>
          </a:xfrm>
          <a:prstGeom prst="rect">
            <a:avLst/>
          </a:prstGeom>
        </p:spPr>
      </p:pic>
      <p:pic>
        <p:nvPicPr>
          <p:cNvPr id="33" name="Picture 32" descr="L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5" y="1179830"/>
            <a:ext cx="2621915" cy="2623820"/>
          </a:xfrm>
          <a:prstGeom prst="rect">
            <a:avLst/>
          </a:prstGeom>
        </p:spPr>
      </p:pic>
      <p:pic>
        <p:nvPicPr>
          <p:cNvPr id="34" name="Picture 33" descr="GAN H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0" y="1193165"/>
            <a:ext cx="2705735" cy="2633345"/>
          </a:xfrm>
          <a:prstGeom prst="rect">
            <a:avLst/>
          </a:prstGeom>
        </p:spPr>
      </p:pic>
      <p:pic>
        <p:nvPicPr>
          <p:cNvPr id="35" name="Picture 34" descr="Actu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430" y="1216660"/>
            <a:ext cx="2620645" cy="2584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Research Model to Industrial Prototype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1183112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6035040" cy="3794760"/>
          </a:xfrm>
          <a:prstGeom prst="roundRect">
            <a:avLst>
              <a:gd name="adj" fmla="val 1928"/>
            </a:avLst>
          </a:prstGeom>
          <a:solidFill>
            <a:srgbClr val="F6FAFA"/>
          </a:solidFill>
          <a:ln w="15875">
            <a:solidFill>
              <a:srgbClr val="9AA5A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760720" cy="3520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28016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Prototype Workflow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640840"/>
            <a:ext cx="4846320" cy="323215"/>
          </a:xfrm>
          <a:prstGeom prst="roundRect">
            <a:avLst>
              <a:gd name="adj" fmla="val 15000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61544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X-ray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281160" y="1955800"/>
            <a:ext cx="0" cy="914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217152" y="202895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1" name="Shape 9"/>
          <p:cNvSpPr/>
          <p:nvPr/>
        </p:nvSpPr>
        <p:spPr>
          <a:xfrm>
            <a:off x="6858000" y="2174240"/>
            <a:ext cx="4846320" cy="226060"/>
          </a:xfrm>
          <a:prstGeom prst="roundRect">
            <a:avLst>
              <a:gd name="adj" fmla="val 15000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148205"/>
            <a:ext cx="4846320" cy="2393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Model / Mode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81160" y="2400300"/>
            <a:ext cx="0" cy="914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9217152" y="248615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5" name="Shape 13"/>
          <p:cNvSpPr/>
          <p:nvPr/>
        </p:nvSpPr>
        <p:spPr>
          <a:xfrm>
            <a:off x="6858000" y="2606040"/>
            <a:ext cx="4846320" cy="365760"/>
          </a:xfrm>
          <a:prstGeom prst="roundRect">
            <a:avLst>
              <a:gd name="adj" fmla="val 15000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606675"/>
            <a:ext cx="4846320" cy="34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Reconstruction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81160" y="2971800"/>
            <a:ext cx="0" cy="914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217152" y="304495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9" name="Shape 17"/>
          <p:cNvSpPr/>
          <p:nvPr/>
        </p:nvSpPr>
        <p:spPr>
          <a:xfrm>
            <a:off x="6858000" y="3172460"/>
            <a:ext cx="4846320" cy="294640"/>
          </a:xfrm>
          <a:prstGeom prst="roundRect">
            <a:avLst>
              <a:gd name="adj" fmla="val 15000"/>
            </a:avLst>
          </a:prstGeom>
          <a:solidFill>
            <a:srgbClr val="F6FAFA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136900"/>
            <a:ext cx="4846320" cy="3409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Error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81160" y="3454400"/>
            <a:ext cx="0" cy="914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9217152" y="3552952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23" name="Shape 21"/>
          <p:cNvSpPr/>
          <p:nvPr/>
        </p:nvSpPr>
        <p:spPr>
          <a:xfrm>
            <a:off x="6858000" y="3672840"/>
            <a:ext cx="484632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651885"/>
            <a:ext cx="4822825" cy="419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 Score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0" y="4087368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6FAFA"/>
          </a:solidFill>
          <a:ln w="15875">
            <a:solidFill>
              <a:srgbClr val="9AA5A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995160" y="4224528"/>
            <a:ext cx="4572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44068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012A2F"/>
          </a:solidFill>
        </p:spPr>
        <p:txBody>
          <a:bodyPr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1040" y="5257800"/>
            <a:ext cx="1240790" cy="9512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Factory X-ray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88795" y="5257800"/>
            <a:ext cx="471170" cy="10140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BF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05990" y="5257800"/>
            <a:ext cx="1163955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16580" y="5257800"/>
            <a:ext cx="502285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BF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07105" y="5257800"/>
            <a:ext cx="1294765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GB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Reconstruction + Consistency</a:t>
            </a:r>
            <a:endParaRPr lang="en-GB" alt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96460" y="5257800"/>
            <a:ext cx="351155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BF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13680" y="5464175"/>
            <a:ext cx="6237605" cy="335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</a:t>
            </a:r>
            <a:r>
              <a:rPr lang="en-GB" alt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        </a:t>
            </a: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GB" alt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</a:t>
            </a: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Workflow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10150" y="5998210"/>
            <a:ext cx="6330950" cy="3549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r>
              <a:rPr lang="en-GB" alt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</a:t>
            </a: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GB" alt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 </a:t>
            </a: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 — Innovation Fair Bangladesh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cxnSp>
        <p:nvCxnSpPr>
          <p:cNvPr id="42" name="Straight Connector 41"/>
          <p:cNvCxnSpPr/>
          <p:nvPr/>
        </p:nvCxnSpPr>
        <p:spPr>
          <a:xfrm>
            <a:off x="5024755" y="5440680"/>
            <a:ext cx="0" cy="10515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/>
        </p:nvSpPr>
        <p:spPr>
          <a:xfrm>
            <a:off x="4946015" y="5334000"/>
            <a:ext cx="342900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4955540" y="6038215"/>
            <a:ext cx="165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Picture 34">
            <a:hlinkClick r:id="rId1" tooltip="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9525"/>
            <a:ext cx="6035675" cy="3909060"/>
          </a:xfrm>
          <a:prstGeom prst="rect">
            <a:avLst/>
          </a:prstGeom>
        </p:spPr>
      </p:pic>
      <p:pic>
        <p:nvPicPr>
          <p:cNvPr id="39" name="Prototype Demo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876415" y="4070985"/>
            <a:ext cx="4827905" cy="1076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Impact, Commercialization &amp; Future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1183112" cy="0"/>
          </a:xfrm>
          <a:prstGeom prst="line">
            <a:avLst/>
          </a:prstGeom>
          <a:noFill/>
          <a:ln w="12700">
            <a:solidFill>
              <a:srgbClr val="1B5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258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B3A3E"/>
          </a:solidFill>
        </p:spPr>
      </p:sp>
      <p:sp>
        <p:nvSpPr>
          <p:cNvPr id="5" name="Text 3"/>
          <p:cNvSpPr/>
          <p:nvPr/>
        </p:nvSpPr>
        <p:spPr>
          <a:xfrm>
            <a:off x="731520" y="150876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Industrial Impact (</a:t>
            </a:r>
            <a:r>
              <a:rPr lang="en-GB" alt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</a:t>
            </a:r>
            <a:r>
              <a:rPr 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)</a:t>
            </a:r>
            <a:endParaRPr lang="en-US" sz="1400" b="1" dirty="0">
              <a:solidFill>
                <a:srgbClr val="02C39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GB" alt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X-ray does today</a:t>
            </a:r>
            <a:endParaRPr lang="en-US" sz="1400" b="1" dirty="0">
              <a:solidFill>
                <a:srgbClr val="02C39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endParaRPr lang="en-GB" altLang="en-US" sz="1400" dirty="0">
              <a:solidFill>
                <a:srgbClr val="37BCBD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15468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GB" altLang="en-US" sz="110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 shot</a:t>
            </a:r>
            <a:r>
              <a:rPr lang="en-US" sz="110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X-ray reconstruction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GB" altLang="en-US" sz="110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truth free deployment signal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GB" altLang="en-US" sz="110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</a:t>
            </a:r>
            <a:r>
              <a:rPr lang="en-US" sz="110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consistency monitoring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Human-in-the-loop inspection support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3258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B3A3E"/>
          </a:solidFill>
        </p:spPr>
      </p:sp>
      <p:sp>
        <p:nvSpPr>
          <p:cNvPr id="8" name="Text 6"/>
          <p:cNvSpPr/>
          <p:nvPr/>
        </p:nvSpPr>
        <p:spPr>
          <a:xfrm>
            <a:off x="4526280" y="150876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Commercialization Pathway</a:t>
            </a:r>
            <a:r>
              <a:rPr lang="en-GB" alt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(NEXT)</a:t>
            </a:r>
            <a:endParaRPr lang="en-GB" altLang="en-US" sz="1400" b="1" dirty="0">
              <a:solidFill>
                <a:srgbClr val="02C39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GB" alt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can be added</a:t>
            </a:r>
            <a:endParaRPr lang="en-GB" altLang="en-US" sz="1400" b="1" dirty="0">
              <a:solidFill>
                <a:srgbClr val="02C39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26280" y="2019300"/>
            <a:ext cx="3154680" cy="356870"/>
          </a:xfrm>
          <a:prstGeom prst="roundRect">
            <a:avLst>
              <a:gd name="adj" fmla="val 11905"/>
            </a:avLst>
          </a:prstGeom>
          <a:solidFill>
            <a:srgbClr val="12545A"/>
          </a:solidFill>
        </p:spPr>
      </p:sp>
      <p:sp>
        <p:nvSpPr>
          <p:cNvPr id="10" name="Text 8"/>
          <p:cNvSpPr/>
          <p:nvPr/>
        </p:nvSpPr>
        <p:spPr>
          <a:xfrm>
            <a:off x="4526280" y="2057400"/>
            <a:ext cx="3154680" cy="3067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PCB Manufacturers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03620" y="2365248"/>
            <a:ext cx="0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6039612" y="2505964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3" name="Shape 11"/>
          <p:cNvSpPr/>
          <p:nvPr/>
        </p:nvSpPr>
        <p:spPr>
          <a:xfrm>
            <a:off x="4526280" y="2649220"/>
            <a:ext cx="3154680" cy="322580"/>
          </a:xfrm>
          <a:prstGeom prst="roundRect">
            <a:avLst>
              <a:gd name="adj" fmla="val 11905"/>
            </a:avLst>
          </a:prstGeom>
          <a:solidFill>
            <a:srgbClr val="12545A"/>
          </a:solidFill>
        </p:spPr>
        <p:txBody>
          <a:bodyPr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599690"/>
            <a:ext cx="3154680" cy="3994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alt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PCB anomaly detection</a:t>
            </a:r>
            <a:endParaRPr lang="en-GB" altLang="en-US" sz="1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03620" y="2971800"/>
            <a:ext cx="0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6039612" y="3099816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17" name="Shape 15"/>
          <p:cNvSpPr/>
          <p:nvPr/>
        </p:nvSpPr>
        <p:spPr>
          <a:xfrm>
            <a:off x="4526280" y="3232404"/>
            <a:ext cx="3154680" cy="384048"/>
          </a:xfrm>
          <a:prstGeom prst="roundRect">
            <a:avLst>
              <a:gd name="adj" fmla="val 11905"/>
            </a:avLst>
          </a:prstGeom>
          <a:solidFill>
            <a:srgbClr val="12545A"/>
          </a:solidFill>
        </p:spPr>
        <p:txBody>
          <a:bodyPr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26280" y="3227705"/>
            <a:ext cx="3154680" cy="3790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alt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Defect localization</a:t>
            </a:r>
            <a:endParaRPr lang="en-GB" altLang="en-US" sz="1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03620" y="3591052"/>
            <a:ext cx="0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6039612" y="3731768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21" name="Shape 19"/>
          <p:cNvSpPr/>
          <p:nvPr/>
        </p:nvSpPr>
        <p:spPr>
          <a:xfrm>
            <a:off x="4526280" y="3869690"/>
            <a:ext cx="3154680" cy="429260"/>
          </a:xfrm>
          <a:prstGeom prst="roundRect">
            <a:avLst>
              <a:gd name="adj" fmla="val 11905"/>
            </a:avLst>
          </a:prstGeom>
          <a:solidFill>
            <a:srgbClr val="02C39A"/>
          </a:solidFill>
        </p:spPr>
      </p:sp>
      <p:sp>
        <p:nvSpPr>
          <p:cNvPr id="22" name="Text 20"/>
          <p:cNvSpPr/>
          <p:nvPr/>
        </p:nvSpPr>
        <p:spPr>
          <a:xfrm>
            <a:off x="4526280" y="3840480"/>
            <a:ext cx="3154680" cy="5086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Future: Semiconductor Inspection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4270248"/>
            <a:ext cx="3154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F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Users / Potential Industry Partners — not existing agreements.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1325880"/>
            <a:ext cx="3611880" cy="3491230"/>
          </a:xfrm>
          <a:prstGeom prst="roundRect">
            <a:avLst>
              <a:gd name="adj" fmla="val 2778"/>
            </a:avLst>
          </a:prstGeom>
          <a:solidFill>
            <a:srgbClr val="0B3A3E"/>
          </a:solidFill>
        </p:spPr>
      </p:sp>
      <p:sp>
        <p:nvSpPr>
          <p:cNvPr id="25" name="Text 23"/>
          <p:cNvSpPr/>
          <p:nvPr/>
        </p:nvSpPr>
        <p:spPr>
          <a:xfrm>
            <a:off x="8321040" y="150876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Roadmap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2057400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2313432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Few-shot reconstruction + physics consistency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98380" y="2743200"/>
            <a:ext cx="0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9834372" y="2871216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30" name="Text 28"/>
          <p:cNvSpPr/>
          <p:nvPr/>
        </p:nvSpPr>
        <p:spPr>
          <a:xfrm>
            <a:off x="8321040" y="2889504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145536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PCB anomaly detection &amp; defect localization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898380" y="3575304"/>
            <a:ext cx="0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>
            <a:off x="9834372" y="3703320"/>
            <a:ext cx="128016" cy="128016"/>
          </a:xfrm>
          <a:prstGeom prst="triangle">
            <a:avLst/>
          </a:prstGeom>
          <a:solidFill>
            <a:srgbClr val="028090"/>
          </a:solidFill>
        </p:spPr>
      </p:sp>
      <p:sp>
        <p:nvSpPr>
          <p:cNvPr id="34" name="Text 32"/>
          <p:cNvSpPr/>
          <p:nvPr/>
        </p:nvSpPr>
        <p:spPr>
          <a:xfrm>
            <a:off x="8321040" y="3721608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</a:t>
            </a:r>
            <a:r>
              <a:rPr lang="en-GB" alt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(Industrial Vision)</a:t>
            </a:r>
            <a:endParaRPr lang="en-GB" altLang="en-US" sz="1000" b="1" dirty="0">
              <a:solidFill>
                <a:srgbClr val="02C3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21040" y="3977640"/>
            <a:ext cx="3154680" cy="8407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semiconductor inspection</a:t>
            </a:r>
            <a:endParaRPr lang="en-US" sz="1050" dirty="0">
              <a:solidFill>
                <a:srgbClr val="D8EF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GB" altLang="en-US" sz="1050" dirty="0">
                <a:solidFill>
                  <a:schemeClr val="bg2"/>
                </a:solidFill>
              </a:rPr>
              <a:t>AI-assisted PCB inspection</a:t>
            </a:r>
            <a:endParaRPr lang="en-GB" altLang="en-US" sz="1050" dirty="0">
              <a:solidFill>
                <a:schemeClr val="bg2"/>
              </a:solidFill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altLang="en-US" sz="1050" dirty="0">
                <a:solidFill>
                  <a:schemeClr val="bg2"/>
                </a:solidFill>
              </a:rPr>
              <a:t>industrial NDT</a:t>
            </a:r>
            <a:endParaRPr lang="en-US" altLang="en-US" sz="1050" dirty="0">
              <a:solidFill>
                <a:schemeClr val="bg2"/>
              </a:solidFill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GB" altLang="en-US" sz="1050" dirty="0">
                <a:solidFill>
                  <a:schemeClr val="bg2"/>
                </a:solidFill>
              </a:rPr>
              <a:t>O</a:t>
            </a:r>
            <a:r>
              <a:rPr lang="en-US" altLang="en-US" sz="1050" dirty="0">
                <a:solidFill>
                  <a:schemeClr val="bg2"/>
                </a:solidFill>
              </a:rPr>
              <a:t>ther X-ray imaging domains</a:t>
            </a:r>
            <a:endParaRPr lang="en-US" altLang="en-US" sz="1050" dirty="0">
              <a:solidFill>
                <a:schemeClr val="bg2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2920" y="48463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</p:spPr>
      </p:sp>
      <p:sp>
        <p:nvSpPr>
          <p:cNvPr id="37" name="Text 35"/>
          <p:cNvSpPr/>
          <p:nvPr/>
        </p:nvSpPr>
        <p:spPr>
          <a:xfrm>
            <a:off x="502920" y="48463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0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SDG 9
</a:t>
            </a:r>
            <a:r>
              <a:rPr lang="en-US" sz="850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Industry, Innovation</a:t>
            </a:r>
            <a:endParaRPr lang="en-US" sz="13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Infrastructure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51760" y="48463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</p:spPr>
      </p:sp>
      <p:sp>
        <p:nvSpPr>
          <p:cNvPr id="39" name="Text 37"/>
          <p:cNvSpPr/>
          <p:nvPr/>
        </p:nvSpPr>
        <p:spPr>
          <a:xfrm>
            <a:off x="2651760" y="48463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0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SDG 8
</a:t>
            </a:r>
            <a:r>
              <a:rPr lang="en-US" sz="850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 Work &amp;</a:t>
            </a:r>
            <a:endParaRPr lang="en-US" sz="13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Economic Growth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00600" y="48463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</p:spPr>
      </p:sp>
      <p:sp>
        <p:nvSpPr>
          <p:cNvPr id="41" name="Text 39"/>
          <p:cNvSpPr/>
          <p:nvPr/>
        </p:nvSpPr>
        <p:spPr>
          <a:xfrm>
            <a:off x="4800600" y="48463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00" b="1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SDG 12
</a:t>
            </a:r>
            <a:r>
              <a:rPr lang="en-US" sz="850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</a:t>
            </a:r>
            <a:endParaRPr lang="en-US" sz="13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012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20840" y="4846320"/>
            <a:ext cx="47365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BFE9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Developed, trained, evaluated, and prototyped end-to-end by the applicant as an independent research and engineering effort.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XrayTrust — Innovation Fair Bangladesh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5122</Words>
  <Application>WPS Presentation</Application>
  <PresentationFormat>On-screen Show (16:9)</PresentationFormat>
  <Paragraphs>363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Mãd ENTERTAINMENTS</cp:lastModifiedBy>
  <cp:revision>8</cp:revision>
  <dcterms:created xsi:type="dcterms:W3CDTF">2026-08-22T05:27:00Z</dcterms:created>
  <dcterms:modified xsi:type="dcterms:W3CDTF">2026-08-23T07:12:26Z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D53677FD5D124BD4838C074792C81B2C_12</vt:lpwstr>
  </property>
</Properties>
</file>